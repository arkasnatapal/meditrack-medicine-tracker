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400" b="1">
                <a:solidFill>
                  <a:srgbClr val="0F766E"/>
                </a:solidFill>
                <a:latin typeface="Segoe UI"/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5760"/>
            <a:ext cx="2011680" cy="54864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 MediTrack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@SIH Idea submission- Template | Slide 1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43C"/>
                </a:solidFill>
                <a:latin typeface="Segoe UI"/>
              </a:defRPr>
            </a:pPr>
            <a:r>
              <a:t>MediTrack: Living Health OS &amp; Smart Care Network</a:t>
            </a:r>
          </a:p>
          <a:p>
            <a:pPr algn="ctr">
              <a:spcBef>
                <a:spcPts val="800"/>
              </a:spcBef>
              <a:defRPr sz="1600" i="1">
                <a:solidFill>
                  <a:srgbClr val="6C2BD9"/>
                </a:solidFill>
                <a:latin typeface="Segoe UI"/>
              </a:defRPr>
            </a:pPr>
            <a:r>
              <a:t>Your Proactive AI Health Guardian &amp; Continuous Care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65836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</a:pPr>
            <a:r>
              <a:rPr b="1" sz="1400">
                <a:solidFill>
                  <a:srgbClr val="1E143C"/>
                </a:solidFill>
                <a:latin typeface="Segoe UI"/>
              </a:rPr>
              <a:t>• Problem Statement ID:</a:t>
            </a:r>
            <a:r>
              <a:rPr sz="1400">
                <a:solidFill>
                  <a:srgbClr val="232332"/>
                </a:solidFill>
                <a:latin typeface="Segoe UI"/>
              </a:rPr>
              <a:t> SIH1689 (MedTech &amp; Healthcare)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143C"/>
                </a:solidFill>
                <a:latin typeface="Segoe UI"/>
              </a:rPr>
              <a:t>• Problem Statement Title:</a:t>
            </a:r>
            <a:r>
              <a:rPr sz="1400">
                <a:solidFill>
                  <a:srgbClr val="232332"/>
                </a:solidFill>
                <a:latin typeface="Segoe UI"/>
              </a:rPr>
              <a:t> AI-Driven Proactive Patient Care &amp; Integrated Care Network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143C"/>
                </a:solidFill>
                <a:latin typeface="Segoe UI"/>
              </a:rPr>
              <a:t>• Theme:</a:t>
            </a:r>
            <a:r>
              <a:rPr sz="1400">
                <a:solidFill>
                  <a:srgbClr val="232332"/>
                </a:solidFill>
                <a:latin typeface="Segoe UI"/>
              </a:rPr>
              <a:t> MedTech / Healthcare &amp; BioTech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143C"/>
                </a:solidFill>
                <a:latin typeface="Segoe UI"/>
              </a:rPr>
              <a:t>• PS Category:</a:t>
            </a:r>
            <a:r>
              <a:rPr sz="1400">
                <a:solidFill>
                  <a:srgbClr val="232332"/>
                </a:solidFill>
                <a:latin typeface="Segoe UI"/>
              </a:rPr>
              <a:t> Software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143C"/>
                </a:solidFill>
                <a:latin typeface="Segoe UI"/>
              </a:rPr>
              <a:t>• Team ID:</a:t>
            </a:r>
            <a:r>
              <a:rPr sz="1400">
                <a:solidFill>
                  <a:srgbClr val="232332"/>
                </a:solidFill>
                <a:latin typeface="Segoe UI"/>
              </a:rPr>
              <a:t> [Your Registered Team ID]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143C"/>
                </a:solidFill>
                <a:latin typeface="Segoe UI"/>
              </a:rPr>
              <a:t>• Team Name:</a:t>
            </a:r>
            <a:r>
              <a:rPr sz="1400">
                <a:solidFill>
                  <a:srgbClr val="232332"/>
                </a:solidFill>
                <a:latin typeface="Segoe UI"/>
              </a:rPr>
              <a:t> Team MediTrack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51760"/>
            <a:ext cx="3474720" cy="356616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500"/>
              </a:spcAft>
              <a:defRPr b="1" sz="1600">
                <a:solidFill>
                  <a:srgbClr val="FFFFFF"/>
                </a:solidFill>
                <a:latin typeface="Segoe UI"/>
              </a:defRPr>
            </a:pPr>
            <a:r>
              <a:t>KEY HIGHLIGHTS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🤖 Autonomous Redis/BullMQ Living Health OS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📄 Gemini 2.5 Flash AI Lab Report Scanner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🏥 Multi-Hospital PHC-&gt;CHC Referral Network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🎥 LiveKit HD Video &amp; 10 Post-Session Msgs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🚨 Real-time Family Risk Escalation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400" b="1">
                <a:solidFill>
                  <a:srgbClr val="0F766E"/>
                </a:solidFill>
                <a:latin typeface="Segoe UI"/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5760"/>
            <a:ext cx="2011680" cy="54864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 MediTrack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@SIH Idea submission- Template | Slide 2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20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43C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943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6C2BD9"/>
                </a:solidFill>
              </a:defRPr>
            </a:pPr>
            <a:r>
              <a:t>❖ Core Solution Capabilities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Living Health OS: </a:t>
            </a:r>
            <a:r>
              <a:rPr sz="1100">
                <a:solidFill>
                  <a:srgbClr val="232332"/>
                </a:solidFill>
              </a:rPr>
              <a:t>Decoupled Redis/BullMQ background engine scans vitals, infers sleep quality, and auto-escalates critical alerts to family.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Gemini AI Report OCR: </a:t>
            </a:r>
            <a:r>
              <a:rPr sz="1100">
                <a:solidFill>
                  <a:srgbClr val="232332"/>
                </a:solidFill>
              </a:rPr>
              <a:t>Extracts lab parameters, categorizes medical domains (Cardiology, Endocrinology), and builds clinical health thesis.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Care &amp; Referral Network: </a:t>
            </a:r>
            <a:r>
              <a:rPr sz="1100">
                <a:solidFill>
                  <a:srgbClr val="232332"/>
                </a:solidFill>
              </a:rPr>
              <a:t>Unifies PHCs, CHCs, and District Hospitals for digital referrals, bed tracking, and multi-hospital doctor routing.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LiveKit Teleconsultation: </a:t>
            </a:r>
            <a:r>
              <a:rPr sz="1100">
                <a:solidFill>
                  <a:srgbClr val="232332"/>
                </a:solidFill>
              </a:rPr>
              <a:t>HD video consultation with up to 10 post-session text/audio follow-up messages for unbroken continuity.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Ambient Aura Interface: </a:t>
            </a:r>
            <a:r>
              <a:rPr sz="1100">
                <a:solidFill>
                  <a:srgbClr val="232332"/>
                </a:solidFill>
              </a:rPr>
              <a:t>Living UI visualizer showing real-time health trajectory (Green/Amber/Red) &amp; dynamic navbar health pill.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188720"/>
            <a:ext cx="4754880" cy="1828800"/>
          </a:xfrm>
          <a:prstGeom prst="roundRect">
            <a:avLst/>
          </a:prstGeom>
          <a:solidFill>
            <a:srgbClr val="F0EBFF"/>
          </a:solidFill>
          <a:ln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300">
                <a:solidFill>
                  <a:srgbClr val="1E143C"/>
                </a:solidFill>
              </a:defRPr>
            </a:pPr>
            <a:r>
              <a:t>👤 User Persona: Ramesh (62, Retired Teacher)</a:t>
            </a:r>
          </a:p>
          <a:p>
            <a:pPr>
              <a:defRPr sz="1000">
                <a:solidFill>
                  <a:srgbClr val="232332"/>
                </a:solidFill>
              </a:defRPr>
            </a:pPr>
            <a:r>
              <a:t>• Profile: Chronic diabetic &amp; hypertensive living in Tier-2 city.</a:t>
            </a:r>
          </a:p>
          <a:p>
            <a:pPr>
              <a:defRPr sz="1000">
                <a:solidFill>
                  <a:srgbClr val="232332"/>
                </a:solidFill>
              </a:defRPr>
            </a:pPr>
            <a:r>
              <a:t>• Pain Point: Frequently misses dosage times, struggles to understand lab reports, and faces long hospital wait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200400"/>
            <a:ext cx="47548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6C2BD9"/>
                </a:solidFill>
              </a:defRPr>
            </a:pPr>
            <a:r>
              <a:t>🗺️ User Journey Map</a:t>
            </a:r>
          </a:p>
          <a:p>
            <a:pPr>
              <a:spcAft>
                <a:spcPts val="500"/>
              </a:spcAft>
              <a:defRPr sz="1000">
                <a:solidFill>
                  <a:srgbClr val="232332"/>
                </a:solidFill>
              </a:defRPr>
            </a:pPr>
            <a:r>
              <a:t>1. Report Scan ➔ Gemini AI extracts glucose &amp; BP vitals</a:t>
            </a:r>
          </a:p>
          <a:p>
            <a:pPr>
              <a:spcAft>
                <a:spcPts val="500"/>
              </a:spcAft>
              <a:defRPr sz="1000">
                <a:solidFill>
                  <a:srgbClr val="232332"/>
                </a:solidFill>
              </a:defRPr>
            </a:pPr>
            <a:r>
              <a:t>2. Living OS Monitor ➔ Background queue calculates daily score</a:t>
            </a:r>
          </a:p>
          <a:p>
            <a:pPr>
              <a:spcAft>
                <a:spcPts val="500"/>
              </a:spcAft>
              <a:defRPr sz="1000">
                <a:solidFill>
                  <a:srgbClr val="232332"/>
                </a:solidFill>
              </a:defRPr>
            </a:pPr>
            <a:r>
              <a:t>3. Risk Escalation ➔ Family alert sent when score drops &lt; 50</a:t>
            </a:r>
          </a:p>
          <a:p>
            <a:pPr>
              <a:spcAft>
                <a:spcPts val="500"/>
              </a:spcAft>
              <a:defRPr sz="1000">
                <a:solidFill>
                  <a:srgbClr val="232332"/>
                </a:solidFill>
              </a:defRPr>
            </a:pPr>
            <a:r>
              <a:t>4. Care Network Map ➔ Finds emergency bed at nearest CHC</a:t>
            </a:r>
          </a:p>
          <a:p>
            <a:pPr>
              <a:spcAft>
                <a:spcPts val="500"/>
              </a:spcAft>
              <a:defRPr sz="1000">
                <a:solidFill>
                  <a:srgbClr val="232332"/>
                </a:solidFill>
              </a:defRPr>
            </a:pPr>
            <a:r>
              <a:t>5. Teleconsultation ➔ LiveKit HD video call with specialist</a:t>
            </a:r>
          </a:p>
          <a:p>
            <a:pPr>
              <a:spcAft>
                <a:spcPts val="500"/>
              </a:spcAft>
              <a:defRPr sz="1000">
                <a:solidFill>
                  <a:srgbClr val="232332"/>
                </a:solidFill>
              </a:defRPr>
            </a:pPr>
            <a:r>
              <a:t>6. Post-Session Care ➔ 10 free follow-up doctor text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400" b="1">
                <a:solidFill>
                  <a:srgbClr val="0F766E"/>
                </a:solidFill>
                <a:latin typeface="Segoe UI"/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5760"/>
            <a:ext cx="2011680" cy="54864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 MediTrack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@SIH Idea submission- Template | Slide 3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20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43C"/>
                </a:solidFill>
                <a:latin typeface="Segoe UI"/>
              </a:defRPr>
            </a:pPr>
            <a:r>
              <a:t>TECHNICAL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6C2BD9"/>
                </a:solidFill>
              </a:defRPr>
            </a:pPr>
            <a:r>
              <a:t>🛠️ Technologies &amp; Stack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Frontend: </a:t>
            </a:r>
            <a:r>
              <a:rPr sz="1100">
                <a:solidFill>
                  <a:srgbClr val="232332"/>
                </a:solidFill>
              </a:rPr>
              <a:t>React.js (Vite), Tailwind CSS, Framer Motion, Leaflet / OpenStreetMap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Backend APIs: </a:t>
            </a:r>
            <a:r>
              <a:rPr sz="1100">
                <a:solidFill>
                  <a:srgbClr val="232332"/>
                </a:solidFill>
              </a:rPr>
              <a:t>Node.js, Express.js (Dual APIs: Patient on 5000, Provider Network on 5001)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Async Queue Engine: </a:t>
            </a:r>
            <a:r>
              <a:rPr sz="1100">
                <a:solidFill>
                  <a:srgbClr val="232332"/>
                </a:solidFill>
              </a:rPr>
              <a:t>Redis + BullMQ (5 background worker queues)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AI &amp; OCR: </a:t>
            </a:r>
            <a:r>
              <a:rPr sz="1100">
                <a:solidFill>
                  <a:srgbClr val="232332"/>
                </a:solidFill>
              </a:rPr>
              <a:t>Google Gemini 2.5 Flash, Tesseract.js / Vision OCR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Teleconsultation: </a:t>
            </a:r>
            <a:r>
              <a:rPr sz="1100">
                <a:solidFill>
                  <a:srgbClr val="232332"/>
                </a:solidFill>
              </a:rPr>
              <a:t>LiveKit Cloud SDK (WebRTC HD Video/Audio)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Database &amp; Storage: </a:t>
            </a:r>
            <a:r>
              <a:rPr sz="1100">
                <a:solidFill>
                  <a:srgbClr val="232332"/>
                </a:solidFill>
              </a:rPr>
              <a:t>MongoDB Atlas (Mongoose), Cloudinary Storage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43C"/>
                </a:solidFill>
              </a:rPr>
              <a:t>• Security: </a:t>
            </a:r>
            <a:r>
              <a:rPr sz="1100">
                <a:solidFill>
                  <a:srgbClr val="232332"/>
                </a:solidFill>
              </a:rPr>
              <a:t>AES-256 Encryption, JWT, Google OAuth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6C2BD9"/>
                </a:solidFill>
              </a:defRPr>
            </a:pPr>
            <a:r>
              <a:t>🏗️ System Architecture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6C2BD9"/>
                </a:solidFill>
                <a:latin typeface="Consolas"/>
              </a:defRPr>
            </a:pPr>
            <a:r>
              <a:t>[ PATIENT APP ]        [ CARE NETWORK ]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5A5A6E"/>
                </a:solidFill>
                <a:latin typeface="Consolas"/>
              </a:defRPr>
            </a:pPr>
            <a:r>
              <a:t>            │                       │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5A5A6E"/>
                </a:solidFill>
                <a:latin typeface="Consolas"/>
              </a:defRPr>
            </a:pPr>
            <a:r>
              <a:t>            ▼                       ▼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0F766E"/>
                </a:solidFill>
                <a:latin typeface="Consolas"/>
              </a:defRPr>
            </a:pPr>
            <a:r>
              <a:t>   EXPRESS API GATEWAY (Port 5000 / 5001)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5A5A6E"/>
                </a:solidFill>
                <a:latin typeface="Consolas"/>
              </a:defRPr>
            </a:pPr>
            <a:r>
              <a:t>      │               │               │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5A5A6E"/>
                </a:solidFill>
                <a:latin typeface="Consolas"/>
              </a:defRPr>
            </a:pPr>
            <a:r>
              <a:t>      ▼               ▼               ▼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 [ LIVING OS ]   [ GEMINI AI ]  [ LIVEKIT ]</a:t>
            </a:r>
            <a:br/>
            <a:r>
              <a:t> (Redis/BullMQ)  (OCR &amp; Thesis) (Video/Msgs)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5A5A6E"/>
                </a:solidFill>
                <a:latin typeface="Consolas"/>
              </a:defRPr>
            </a:pPr>
            <a:r>
              <a:t>      │               │               │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5A5A6E"/>
                </a:solidFill>
                <a:latin typeface="Consolas"/>
              </a:defRPr>
            </a:pPr>
            <a:r>
              <a:t>      └───────────────┼───────────────┘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5A5A6E"/>
                </a:solidFill>
                <a:latin typeface="Consolas"/>
              </a:defRPr>
            </a:pPr>
            <a:r>
              <a:t>                      ▼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10B981"/>
                </a:solidFill>
                <a:latin typeface="Consolas"/>
              </a:defRPr>
            </a:pPr>
            <a:r>
              <a:t>         SHARED MONGODB ATLAS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400" b="1">
                <a:solidFill>
                  <a:srgbClr val="0F766E"/>
                </a:solidFill>
                <a:latin typeface="Segoe UI"/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5760"/>
            <a:ext cx="2011680" cy="54864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 MediTrack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@SIH Idea submission- Template | Slide 4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20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43C"/>
                </a:solidFill>
                <a:latin typeface="Segoe UI"/>
              </a:defRPr>
            </a:pPr>
            <a:r>
              <a:t>FEASIBILITY AND VIABILITY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6C2BD9"/>
                </a:solidFill>
              </a:defRPr>
            </a:pPr>
            <a:r>
              <a:t>⚡ Technical Feasibility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Built on proven Node.js/React/Redis stack.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Micro-services allow decoupled scaling.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Low API cost with Gemini 2.5 Flash.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6C2BD9"/>
                </a:solidFill>
              </a:defRPr>
            </a:pPr>
            <a:r>
              <a:t>💼 Business Viability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B2C Subscriptions for advanced AI insights.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B2B SaaS for private clinics &amp; hospitals.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Government PHC/CHC network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6C2BD9"/>
                </a:solidFill>
              </a:defRPr>
            </a:pPr>
            <a:r>
              <a:t>🛡️ Challenges &amp; Mitigations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Handwritten OCR: Gemini multimodal fallback.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Rural Connectivity: Offline local storage &amp; SMS.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Video Bitrate: LiveKit adaptive WebRTC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6C2BD9"/>
                </a:solidFill>
              </a:defRPr>
            </a:pPr>
            <a:r>
              <a:t>🎨 Design Prototype Highlights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Ambient Aura UI: Dynamic Green/Amber/Red.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AI OCR Lab Reader: Instant clinical thesis.</a:t>
            </a:r>
          </a:p>
          <a:p>
            <a:pPr>
              <a:spcAft>
                <a:spcPts val="400"/>
              </a:spcAft>
              <a:defRPr sz="1050">
                <a:solidFill>
                  <a:srgbClr val="232332"/>
                </a:solidFill>
              </a:defRPr>
            </a:pPr>
            <a:r>
              <a:t>• Care Map: Bed availability &amp; PHC referral.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400" b="1">
                <a:solidFill>
                  <a:srgbClr val="0F766E"/>
                </a:solidFill>
                <a:latin typeface="Segoe UI"/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5760"/>
            <a:ext cx="2011680" cy="54864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 MediTrack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@SIH Idea submission- Template | Slide 5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20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43C"/>
                </a:solidFill>
                <a:latin typeface="Segoe UI"/>
              </a:defRPr>
            </a:pPr>
            <a:r>
              <a:t>IMPACT AND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1206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500">
                <a:solidFill>
                  <a:srgbClr val="6C2BD9"/>
                </a:solidFill>
              </a:defRPr>
            </a:pPr>
            <a:r>
              <a:t>👥 Social Impact</a:t>
            </a:r>
          </a:p>
          <a:p>
            <a:pPr>
              <a:defRPr sz="1100">
                <a:solidFill>
                  <a:srgbClr val="232332"/>
                </a:solidFill>
              </a:defRPr>
            </a:pPr>
            <a:r>
              <a:t>Connects Tier-2/3 &amp; rural patients to specialist doctors; provides family peace of mind via auto-alerts.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51206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500">
                <a:solidFill>
                  <a:srgbClr val="0F766E"/>
                </a:solidFill>
              </a:defRPr>
            </a:pPr>
            <a:r>
              <a:t>🏥 Healthcare Impact</a:t>
            </a:r>
          </a:p>
          <a:p>
            <a:pPr>
              <a:defRPr sz="1100">
                <a:solidFill>
                  <a:srgbClr val="232332"/>
                </a:solidFill>
              </a:defRPr>
            </a:pPr>
            <a:r>
              <a:t>Drives medication adherence from &lt;50% to &gt;85%; enables early risk detection before emergency visits.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51206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💰 Economic Impact</a:t>
            </a:r>
          </a:p>
          <a:p>
            <a:pPr>
              <a:defRPr sz="1100">
                <a:solidFill>
                  <a:srgbClr val="232332"/>
                </a:solidFill>
              </a:defRPr>
            </a:pPr>
            <a:r>
              <a:t>Reduces out-of-pocket emergency costs for families and lowers hospital administrative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474720"/>
            <a:ext cx="51206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500">
                <a:solidFill>
                  <a:srgbClr val="F59E0B"/>
                </a:solidFill>
              </a:defRPr>
            </a:pPr>
            <a:r>
              <a:t>⚡ Technological Impact</a:t>
            </a:r>
          </a:p>
          <a:p>
            <a:pPr>
              <a:defRPr sz="1100">
                <a:solidFill>
                  <a:srgbClr val="232332"/>
                </a:solidFill>
              </a:defRPr>
            </a:pPr>
            <a:r>
              <a:t>Pioneers background Living Health OS concept, moving from static logs to proactive AI guardianship.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669280"/>
            <a:ext cx="10515600" cy="64008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🌟 Transformative Vision: Shifting chronic care from reactive crisis response into continuous, proactive AI guardianship across India.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400" b="1">
                <a:solidFill>
                  <a:srgbClr val="0F766E"/>
                </a:solidFill>
                <a:latin typeface="Segoe UI"/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5760"/>
            <a:ext cx="2011680" cy="54864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 MediTrack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@SIH Idea submission- Template | Slide 6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20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43C"/>
                </a:solidFill>
                <a:latin typeface="Segoe UI"/>
              </a:defRPr>
            </a:pPr>
            <a:r>
              <a:t>RESEARCH &amp; GLOBAL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43891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6C2BD9"/>
                </a:solidFill>
              </a:defRPr>
            </a:pPr>
            <a:r>
              <a:t>📊 Market Data &amp; Citations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143C"/>
                </a:solidFill>
              </a:rPr>
              <a:t>• WHO Adherence Report: </a:t>
            </a:r>
            <a:r>
              <a:rPr sz="950">
                <a:solidFill>
                  <a:srgbClr val="232332"/>
                </a:solidFill>
              </a:rPr>
              <a:t>Over 50% of chronic disease patients fail to take medications correctly, causing $300B+ annual waste.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143C"/>
                </a:solidFill>
              </a:rPr>
              <a:t>• AI in Healthcare Growth: </a:t>
            </a:r>
            <a:r>
              <a:rPr sz="950">
                <a:solidFill>
                  <a:srgbClr val="232332"/>
                </a:solidFill>
              </a:rPr>
              <a:t>Global AI MedTech market projected to reach $187.9B by 2030 (37% CAGR).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143C"/>
                </a:solidFill>
              </a:rPr>
              <a:t>• NITI Aayog Telemedicine: </a:t>
            </a:r>
            <a:r>
              <a:rPr sz="950">
                <a:solidFill>
                  <a:srgbClr val="232332"/>
                </a:solidFill>
              </a:rPr>
              <a:t>300%+ surge in e-Sanjeevani digital consultation adoption across rural India.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143C"/>
                </a:solidFill>
              </a:rPr>
              <a:t>• Live Prototype URLs: </a:t>
            </a:r>
            <a:r>
              <a:rPr sz="950">
                <a:solidFill>
                  <a:srgbClr val="232332"/>
                </a:solidFill>
              </a:rPr>
              <a:t>Patient App: http://localhost:5173
Care Network: http://localhost:5174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12080" y="1188720"/>
          <a:ext cx="6309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371600"/>
                <a:gridCol w="137160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MediTrack</a:t>
                      </a:r>
                    </a:p>
                  </a:txBody>
                  <a:tcPr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Practo</a:t>
                      </a:r>
                    </a:p>
                  </a:txBody>
                  <a:tcPr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Generic Apps</a:t>
                      </a:r>
                    </a:p>
                  </a:txBody>
                  <a:tcPr>
                    <a:solidFill>
                      <a:srgbClr val="6C2BD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32"/>
                          </a:solidFill>
                        </a:defRPr>
                      </a:pPr>
                      <a:r>
                        <a:t>Living OS (Proactive Queues)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C2BD9"/>
                          </a:solidFill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32"/>
                          </a:solidFill>
                        </a:defRPr>
                      </a:pPr>
                      <a:r>
                        <a:t>Gemini AI Report OCR &amp; 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C2BD9"/>
                          </a:solidFill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32"/>
                          </a:solidFill>
                        </a:defRPr>
                      </a:pPr>
                      <a:r>
                        <a:t>Multi-Hospital Referral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C2BD9"/>
                          </a:solidFill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32"/>
                          </a:solidFill>
                        </a:defRPr>
                      </a:pPr>
                      <a:r>
                        <a:t>LiveKit Teleconsult + 10 Msgs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C2BD9"/>
                          </a:solidFill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32"/>
                          </a:solidFill>
                        </a:defRPr>
                      </a:pPr>
                      <a:r>
                        <a:t>Ambient Aura Health Score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C2BD9"/>
                          </a:solidFill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32"/>
                          </a:solidFill>
                        </a:defRPr>
                      </a:pPr>
                      <a:r>
                        <a:t>Family Auto-Escalation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C2BD9"/>
                          </a:solidFill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3233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